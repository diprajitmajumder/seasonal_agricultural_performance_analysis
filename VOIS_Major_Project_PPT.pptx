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92" d="100"/>
          <a:sy n="92" d="100"/>
        </p:scale>
        <p:origin x="-240" y="0"/>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7201737A-B873-4D1D-8A41-5ABF5184BC8F}"/>
              </a:ext>
            </a:extLst>
          </p:cNvPr>
          <p:cNvSpPr>
            <a:spLocks noGrp="1"/>
          </p:cNvSpPr>
          <p:nvPr>
            <p:ph type="body" sz="quarter" idx="11"/>
          </p:nvPr>
        </p:nvSpPr>
        <p:spPr>
          <a:xfrm>
            <a:off x="425236" y="3714972"/>
            <a:ext cx="5485113" cy="861497"/>
          </a:xfrm>
        </p:spPr>
        <p:txBody>
          <a:bodyPr vert="horz" lIns="91440" tIns="45720" rIns="91440" bIns="45720" rtlCol="0" anchor="t">
            <a:noAutofit/>
          </a:bodyPr>
          <a:lstStyle/>
          <a:p>
            <a:r>
              <a:rPr lang="en-US" sz="1800" b="0" dirty="0">
                <a:solidFill>
                  <a:schemeClr val="tx1"/>
                </a:solidFill>
              </a:rPr>
              <a:t>Student Name – Diprajit Majumder </a:t>
            </a:r>
            <a:endParaRPr lang="en-IN" sz="1800" b="0" dirty="0">
              <a:solidFill>
                <a:schemeClr val="tx1"/>
              </a:solidFill>
            </a:endParaRPr>
          </a:p>
          <a:p>
            <a:r>
              <a:rPr lang="en-US" sz="1800" b="0" dirty="0" smtClean="0">
                <a:solidFill>
                  <a:schemeClr val="tx1"/>
                </a:solidFill>
              </a:rPr>
              <a:t>College Name - Holy Cross College, Agartala</a:t>
            </a:r>
            <a:endParaRPr lang="en-IN" sz="1800" b="0" dirty="0">
              <a:solidFill>
                <a:schemeClr val="tx1"/>
              </a:solidFill>
            </a:endParaRPr>
          </a:p>
        </p:txBody>
      </p:sp>
      <p:sp>
        <p:nvSpPr>
          <p:cNvPr id="4" name="Title 3">
            <a:extLst>
              <a:ext uri="{FF2B5EF4-FFF2-40B4-BE49-F238E27FC236}">
                <a16:creationId xmlns="" xmlns:a16="http://schemas.microsoft.com/office/drawing/2014/main" id="{92056599-CDAA-4367-BEF8-31D6E32518C8}"/>
              </a:ext>
            </a:extLst>
          </p:cNvPr>
          <p:cNvSpPr>
            <a:spLocks noGrp="1"/>
          </p:cNvSpPr>
          <p:nvPr>
            <p:ph type="title"/>
          </p:nvPr>
        </p:nvSpPr>
        <p:spPr>
          <a:xfrm>
            <a:off x="474239" y="2695120"/>
            <a:ext cx="9404975" cy="743448"/>
          </a:xfrm>
        </p:spPr>
        <p:txBody>
          <a:bodyPr>
            <a:normAutofit fontScale="90000"/>
          </a:bodyPr>
          <a:lstStyle/>
          <a:p>
            <a:r>
              <a:rPr lang="en-GB" sz="3200" b="1" dirty="0"/>
              <a:t>Project Title </a:t>
            </a:r>
            <a:r>
              <a:rPr lang="en-GB" sz="3200" dirty="0" smtClean="0"/>
              <a:t>–</a:t>
            </a:r>
            <a:r>
              <a:rPr lang="en-US" sz="3200" dirty="0" smtClean="0"/>
              <a:t>Seasonal Agriculture </a:t>
            </a:r>
            <a:r>
              <a:rPr lang="en-US" sz="3200" dirty="0"/>
              <a:t>Performance Analysis</a:t>
            </a:r>
            <a:endParaRPr lang="en-IN" sz="3200" dirty="0"/>
          </a:p>
        </p:txBody>
      </p:sp>
      <p:sp>
        <p:nvSpPr>
          <p:cNvPr id="15" name="Text Placeholder 1">
            <a:extLst>
              <a:ext uri="{FF2B5EF4-FFF2-40B4-BE49-F238E27FC236}">
                <a16:creationId xmlns=""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 xmlns:a16="http://schemas.microsoft.com/office/drawing/2014/main" id="{17F04107-8754-E47D-3375-529E689711FA}"/>
              </a:ext>
            </a:extLst>
          </p:cNvPr>
          <p:cNvSpPr txBox="1"/>
          <p:nvPr/>
        </p:nvSpPr>
        <p:spPr>
          <a:xfrm>
            <a:off x="433704" y="4576468"/>
            <a:ext cx="5967096" cy="646331"/>
          </a:xfrm>
          <a:prstGeom prst="rect">
            <a:avLst/>
          </a:prstGeom>
          <a:noFill/>
        </p:spPr>
        <p:txBody>
          <a:bodyPr wrap="square" rtlCol="0">
            <a:spAutoFit/>
          </a:bodyPr>
          <a:lstStyle/>
          <a:p>
            <a:r>
              <a:rPr lang="en-US" b="1" dirty="0"/>
              <a:t>AICTE STU ID </a:t>
            </a:r>
            <a:r>
              <a:rPr lang="en-US" b="1" dirty="0" smtClean="0"/>
              <a:t>: </a:t>
            </a:r>
            <a:r>
              <a:rPr lang="en-US" dirty="0"/>
              <a:t>STU6a6359847f2981784895876</a:t>
            </a:r>
          </a:p>
          <a:p>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marL="0" indent="0">
              <a:lnSpc>
                <a:spcPct val="100000"/>
              </a:lnSpc>
              <a:buNone/>
            </a:pPr>
            <a:r>
              <a:rPr lang="en-US" sz="1800" dirty="0"/>
              <a:t>Agricultural performance is influenced by seasonal variations in environmental conditions, farming practices, resource availability, and market conditions. Raw agricultural data doesn't clearly show how performance changes across seasons. This project analyzes seasonal agricultural data to identify meaningful patterns, trends, relationships, and variations in performance across the </a:t>
            </a:r>
            <a:r>
              <a:rPr lang="en-US" sz="1800" dirty="0" err="1"/>
              <a:t>Kharif</a:t>
            </a:r>
            <a:r>
              <a:rPr lang="en-US" sz="1800" dirty="0"/>
              <a:t>, Rabi, and </a:t>
            </a:r>
            <a:r>
              <a:rPr lang="en-US" sz="1800" dirty="0" err="1"/>
              <a:t>Zaid</a:t>
            </a:r>
            <a:r>
              <a:rPr lang="en-US" sz="1800" dirty="0"/>
              <a:t> seasons.</a:t>
            </a:r>
            <a:endParaRPr lang="en-IN" sz="2800" dirty="0"/>
          </a:p>
        </p:txBody>
      </p:sp>
      <p:sp>
        <p:nvSpPr>
          <p:cNvPr id="4" name="Title 3">
            <a:extLst>
              <a:ext uri="{FF2B5EF4-FFF2-40B4-BE49-F238E27FC236}">
                <a16:creationId xmlns=""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675956" y="2053244"/>
            <a:ext cx="5151265" cy="3416320"/>
          </a:xfrm>
          <a:prstGeom prst="rect">
            <a:avLst/>
          </a:prstGeom>
          <a:noFill/>
        </p:spPr>
        <p:txBody>
          <a:bodyPr wrap="square" rtlCol="0">
            <a:spAutoFit/>
          </a:bodyPr>
          <a:lstStyle/>
          <a:p>
            <a:r>
              <a:rPr lang="en-US" dirty="0"/>
              <a:t>This project analyzes a dataset of 4,000 farm records across 8 Indian states, 8 crops, and 3 seasons. The dataset includes environmental factors (rainfall, temperature, soil conditions), resource usage (fertilizer, water, irrigation method), and economic outcomes (cost, revenue, profit). Using Python (Pandas, </a:t>
            </a:r>
            <a:r>
              <a:rPr lang="en-US" dirty="0" err="1"/>
              <a:t>Seaborn</a:t>
            </a:r>
            <a:r>
              <a:rPr lang="en-US" dirty="0"/>
              <a:t>, </a:t>
            </a:r>
            <a:r>
              <a:rPr lang="en-US" dirty="0" err="1"/>
              <a:t>SciPy</a:t>
            </a:r>
            <a:r>
              <a:rPr lang="en-US" dirty="0"/>
              <a:t>), I cleaned the data, performed exploratory analysis, tested statistical significance across seasons using ANOVA, and identified key seasonal patterns to support data-driven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p:cNvSpPr txBox="1"/>
          <p:nvPr/>
        </p:nvSpPr>
        <p:spPr>
          <a:xfrm>
            <a:off x="532015" y="2094806"/>
            <a:ext cx="6442363" cy="1188721"/>
          </a:xfrm>
          <a:prstGeom prst="rect">
            <a:avLst/>
          </a:prstGeom>
          <a:noFill/>
        </p:spPr>
        <p:txBody>
          <a:bodyPr wrap="square" rtlCol="0">
            <a:spAutoFit/>
          </a:bodyPr>
          <a:lstStyle/>
          <a:p>
            <a:r>
              <a:rPr lang="en-US" dirty="0"/>
              <a:t>Farmers, agricultural planners, government agriculture departments, agri-business analysts, and policy makers who need evidence-based insight into how seasonal conditions affect crop performance and profitability.</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4" name="TextBox 3"/>
          <p:cNvSpPr txBox="1"/>
          <p:nvPr/>
        </p:nvSpPr>
        <p:spPr>
          <a:xfrm>
            <a:off x="831272" y="1670858"/>
            <a:ext cx="8088284" cy="646331"/>
          </a:xfrm>
          <a:prstGeom prst="rect">
            <a:avLst/>
          </a:prstGeom>
          <a:noFill/>
        </p:spPr>
        <p:txBody>
          <a:bodyPr wrap="square" rtlCol="0">
            <a:spAutoFit/>
          </a:bodyPr>
          <a:lstStyle/>
          <a:p>
            <a:r>
              <a:rPr lang="en-US" dirty="0"/>
              <a:t>Python, Pandas, </a:t>
            </a:r>
            <a:r>
              <a:rPr lang="en-US" dirty="0" err="1"/>
              <a:t>NumPy</a:t>
            </a:r>
            <a:r>
              <a:rPr lang="en-US" dirty="0"/>
              <a:t>, </a:t>
            </a:r>
            <a:r>
              <a:rPr lang="en-US" dirty="0" err="1"/>
              <a:t>Matplotlib</a:t>
            </a:r>
            <a:r>
              <a:rPr lang="en-US" dirty="0"/>
              <a:t>, </a:t>
            </a:r>
            <a:r>
              <a:rPr lang="en-US" dirty="0" err="1"/>
              <a:t>Seaborn</a:t>
            </a:r>
            <a:r>
              <a:rPr lang="en-US" dirty="0"/>
              <a:t>, </a:t>
            </a:r>
            <a:r>
              <a:rPr lang="en-US" dirty="0" err="1"/>
              <a:t>SciPy</a:t>
            </a:r>
            <a:r>
              <a:rPr lang="en-US" dirty="0"/>
              <a:t> (statistics), </a:t>
            </a:r>
            <a:r>
              <a:rPr lang="en-US" dirty="0" err="1"/>
              <a:t>Statsmodels</a:t>
            </a:r>
            <a:r>
              <a:rPr lang="en-US" dirty="0"/>
              <a:t> (ANOVA/</a:t>
            </a:r>
            <a:r>
              <a:rPr lang="en-US" dirty="0" err="1"/>
              <a:t>Tukey</a:t>
            </a:r>
            <a:r>
              <a:rPr lang="en-US" dirty="0"/>
              <a:t> HSD), Google </a:t>
            </a:r>
            <a:r>
              <a:rPr lang="en-US" dirty="0" err="1"/>
              <a:t>Colab</a:t>
            </a:r>
            <a:r>
              <a:rPr lang="en-US" dirty="0"/>
              <a:t>, </a:t>
            </a:r>
            <a:r>
              <a:rPr lang="en-US" dirty="0" err="1"/>
              <a:t>Jupyter</a:t>
            </a:r>
            <a:r>
              <a:rPr lang="en-US" dirty="0"/>
              <a:t> Notebook.</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260321" y="146146"/>
            <a:ext cx="2981643" cy="830997"/>
          </a:xfrm>
        </p:spPr>
        <p:txBody>
          <a:bodyPr>
            <a:normAutofit/>
          </a:bodyPr>
          <a:lstStyle/>
          <a:p>
            <a:r>
              <a:rPr lang="en-GB" sz="4400" dirty="0" smtClean="0"/>
              <a:t>RESULT</a:t>
            </a:r>
            <a:r>
              <a:rPr lang="en-GB" dirty="0" smtClean="0"/>
              <a:t> </a:t>
            </a:r>
            <a:endParaRPr lang="en-IN" dirty="0"/>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281497" y="955228"/>
            <a:ext cx="5696492" cy="391434"/>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2000" dirty="0"/>
              <a:t>Seasonal Yield &amp; Profit Comparison</a:t>
            </a:r>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9959" y="1436770"/>
            <a:ext cx="4518887" cy="269066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752" y="1436770"/>
            <a:ext cx="4506634" cy="2690660"/>
          </a:xfrm>
          <a:prstGeom prst="rect">
            <a:avLst/>
          </a:prstGeom>
        </p:spPr>
      </p:pic>
      <p:sp>
        <p:nvSpPr>
          <p:cNvPr id="6" name="Rectangle 5"/>
          <p:cNvSpPr/>
          <p:nvPr/>
        </p:nvSpPr>
        <p:spPr>
          <a:xfrm>
            <a:off x="520929" y="4225374"/>
            <a:ext cx="7783485" cy="923330"/>
          </a:xfrm>
          <a:prstGeom prst="rect">
            <a:avLst/>
          </a:prstGeom>
        </p:spPr>
        <p:txBody>
          <a:bodyPr wrap="square">
            <a:spAutoFit/>
          </a:bodyPr>
          <a:lstStyle/>
          <a:p>
            <a:r>
              <a:rPr lang="en-US" dirty="0" err="1"/>
              <a:t>Kharif</a:t>
            </a:r>
            <a:r>
              <a:rPr lang="en-US" dirty="0"/>
              <a:t> shows the highest average yield and profit among the three seasons, while </a:t>
            </a:r>
            <a:r>
              <a:rPr lang="en-US" dirty="0" err="1"/>
              <a:t>Zaid</a:t>
            </a:r>
            <a:r>
              <a:rPr lang="en-US" dirty="0"/>
              <a:t> shows the lowest profit despite reasonable yield — indicating performance clearly differs by season.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4400" dirty="0" smtClean="0"/>
              <a:t>RESULT</a:t>
            </a:r>
            <a:endParaRPr lang="en-IN" dirty="0"/>
          </a:p>
        </p:txBody>
      </p:sp>
      <p:sp>
        <p:nvSpPr>
          <p:cNvPr id="7" name="Text Placeholder 30">
            <a:extLst>
              <a:ext uri="{FF2B5EF4-FFF2-40B4-BE49-F238E27FC236}">
                <a16:creationId xmlns=""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3A64DB11-806F-1A4C-E0D5-D745D29CED50}"/>
              </a:ext>
            </a:extLst>
          </p:cNvPr>
          <p:cNvSpPr>
            <a:spLocks noGrp="1"/>
          </p:cNvSpPr>
          <p:nvPr>
            <p:ph type="body" sz="quarter" idx="12"/>
          </p:nvPr>
        </p:nvSpPr>
        <p:spPr>
          <a:xfrm>
            <a:off x="675957" y="1130890"/>
            <a:ext cx="4275138" cy="477520"/>
          </a:xfrm>
        </p:spPr>
        <p:txBody>
          <a:bodyPr/>
          <a:lstStyle/>
          <a:p>
            <a:pPr marL="0" indent="0">
              <a:buNone/>
            </a:pPr>
            <a:r>
              <a:rPr lang="en-US" dirty="0"/>
              <a:t>Statistical significance </a:t>
            </a:r>
            <a:r>
              <a:rPr lang="en-US" dirty="0" smtClean="0"/>
              <a:t>testing</a:t>
            </a:r>
            <a:endParaRPr lang="en-IN" dirty="0"/>
          </a:p>
        </p:txBody>
      </p:sp>
      <p:pic>
        <p:nvPicPr>
          <p:cNvPr id="1026" name="Picture 2" descr="C:\Users\91986\Downloads\seasonal_agriculture_analysis-ipynb-Colab (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74" y="1675159"/>
            <a:ext cx="7791451" cy="22193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635473" y="4028685"/>
            <a:ext cx="8043013" cy="1200329"/>
          </a:xfrm>
          <a:prstGeom prst="rect">
            <a:avLst/>
          </a:prstGeom>
        </p:spPr>
        <p:txBody>
          <a:bodyPr wrap="square">
            <a:spAutoFit/>
          </a:bodyPr>
          <a:lstStyle/>
          <a:p>
            <a:r>
              <a:rPr lang="en-US" dirty="0"/>
              <a:t>One-way ANOVA confirms that Profit, Revenue, Rainfall, Temperature, and Disease/Pest Risk differ significantly across seasons (p &lt; 0.05). Interestingly, Yield itself does not differ significantly — showing that visual differences aren't always statistically meaningful, and vice versa.</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DFCD5524-F764-DC63-6F54-D48057CF17B7}"/>
              </a:ext>
            </a:extLst>
          </p:cNvPr>
          <p:cNvSpPr>
            <a:spLocks noGrp="1"/>
          </p:cNvSpPr>
          <p:nvPr>
            <p:ph type="title"/>
          </p:nvPr>
        </p:nvSpPr>
        <p:spPr>
          <a:xfrm>
            <a:off x="501940" y="121207"/>
            <a:ext cx="2981643" cy="830997"/>
          </a:xfrm>
        </p:spPr>
        <p:txBody>
          <a:bodyPr>
            <a:normAutofit/>
          </a:bodyPr>
          <a:lstStyle/>
          <a:p>
            <a:r>
              <a:rPr lang="en-GB" dirty="0" smtClean="0"/>
              <a:t>RESULT </a:t>
            </a:r>
            <a:endParaRPr lang="en-IN" dirty="0"/>
          </a:p>
        </p:txBody>
      </p:sp>
      <p:sp>
        <p:nvSpPr>
          <p:cNvPr id="7" name="Text Placeholder 30">
            <a:extLst>
              <a:ext uri="{FF2B5EF4-FFF2-40B4-BE49-F238E27FC236}">
                <a16:creationId xmlns=""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B6E3B1C7-6A8B-23EE-6251-DC1067C6ADE9}"/>
              </a:ext>
            </a:extLst>
          </p:cNvPr>
          <p:cNvSpPr>
            <a:spLocks noGrp="1"/>
          </p:cNvSpPr>
          <p:nvPr>
            <p:ph type="body" sz="quarter" idx="12"/>
          </p:nvPr>
        </p:nvSpPr>
        <p:spPr>
          <a:xfrm>
            <a:off x="474653" y="976113"/>
            <a:ext cx="6923656" cy="477520"/>
          </a:xfrm>
        </p:spPr>
        <p:txBody>
          <a:bodyPr>
            <a:noAutofit/>
          </a:bodyPr>
          <a:lstStyle/>
          <a:p>
            <a:pPr marL="0" indent="0">
              <a:buNone/>
            </a:pPr>
            <a:r>
              <a:rPr lang="en-US" dirty="0"/>
              <a:t>Crop-wise performance within each season</a:t>
            </a:r>
            <a:endParaRPr lang="en-IN" dirty="0"/>
          </a:p>
        </p:txBody>
      </p:sp>
      <p:pic>
        <p:nvPicPr>
          <p:cNvPr id="2050" name="Picture 2" descr="C:\Users\91986\Downloads\seasonal_agriculture_analysis-ipynb-Colab (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311" y="1359029"/>
            <a:ext cx="5871034" cy="22819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45374" y="3750051"/>
            <a:ext cx="8481753" cy="2585323"/>
          </a:xfrm>
          <a:prstGeom prst="rect">
            <a:avLst/>
          </a:prstGeom>
        </p:spPr>
        <p:txBody>
          <a:bodyPr wrap="square">
            <a:spAutoFit/>
          </a:bodyPr>
          <a:lstStyle/>
          <a:p>
            <a:r>
              <a:rPr lang="en-US" dirty="0"/>
              <a:t>This </a:t>
            </a:r>
            <a:r>
              <a:rPr lang="en-US" dirty="0" err="1"/>
              <a:t>heatmap</a:t>
            </a:r>
            <a:r>
              <a:rPr lang="en-US" dirty="0"/>
              <a:t> shows average yield (</a:t>
            </a:r>
            <a:r>
              <a:rPr lang="en-US" dirty="0" err="1"/>
              <a:t>Tonnes</a:t>
            </a:r>
            <a:r>
              <a:rPr lang="en-US" dirty="0"/>
              <a:t>/Hectare) for each crop across the three seasons. Two clear patterns emerge:</a:t>
            </a:r>
          </a:p>
          <a:p>
            <a:r>
              <a:rPr lang="en-US" b="1" dirty="0" smtClean="0"/>
              <a:t> Sugarcane </a:t>
            </a:r>
            <a:r>
              <a:rPr lang="en-US" b="1" dirty="0"/>
              <a:t>yields far more than any other crop</a:t>
            </a:r>
            <a:r>
              <a:rPr lang="en-US" dirty="0"/>
              <a:t> — 53.46 t/ha in </a:t>
            </a:r>
            <a:r>
              <a:rPr lang="en-US" dirty="0" err="1"/>
              <a:t>Kharif</a:t>
            </a:r>
            <a:r>
              <a:rPr lang="en-US" dirty="0"/>
              <a:t>, dropping to 43.28 in Rabi and 38.42 in </a:t>
            </a:r>
            <a:r>
              <a:rPr lang="en-US" dirty="0" err="1"/>
              <a:t>Zaid</a:t>
            </a:r>
            <a:r>
              <a:rPr lang="en-US" dirty="0"/>
              <a:t>. Its scale is so much larger than other crops that it visually dominates the color scale.</a:t>
            </a:r>
          </a:p>
          <a:p>
            <a:r>
              <a:rPr lang="en-US" b="1" dirty="0"/>
              <a:t>Every single crop follows the same seasonal order: </a:t>
            </a:r>
            <a:r>
              <a:rPr lang="en-US" b="1" dirty="0" err="1"/>
              <a:t>Kharif</a:t>
            </a:r>
            <a:r>
              <a:rPr lang="en-US" b="1" dirty="0"/>
              <a:t> &gt; Rabi &gt; </a:t>
            </a:r>
            <a:r>
              <a:rPr lang="en-US" b="1" dirty="0" err="1"/>
              <a:t>Zaid</a:t>
            </a:r>
            <a:r>
              <a:rPr lang="en-US" b="1" dirty="0"/>
              <a:t>.</a:t>
            </a:r>
            <a:r>
              <a:rPr lang="en-US" dirty="0"/>
              <a:t> For example, Maize goes from 2.97 → 2.60 → 2.29, and Rice goes from 2.70 → 2.32 → 1.90. This consistent decline across all 8 crops shows </a:t>
            </a:r>
            <a:r>
              <a:rPr lang="en-US" dirty="0" err="1"/>
              <a:t>Kharif</a:t>
            </a:r>
            <a:r>
              <a:rPr lang="en-US" dirty="0"/>
              <a:t> is the strongest-performing season overall, regardless of crop type.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smtClean="0"/>
              <a:t>RESULT</a:t>
            </a:r>
            <a:endParaRPr lang="en-IN" dirty="0"/>
          </a:p>
        </p:txBody>
      </p:sp>
      <p:sp>
        <p:nvSpPr>
          <p:cNvPr id="7" name="Text Placeholder 30">
            <a:extLst>
              <a:ext uri="{FF2B5EF4-FFF2-40B4-BE49-F238E27FC236}">
                <a16:creationId xmlns="" xmlns:a16="http://schemas.microsoft.com/office/drawing/2014/main" id="{D224F8B1-34DD-5A54-7F70-25EBA532E6E1}"/>
              </a:ext>
            </a:extLst>
          </p:cNvPr>
          <p:cNvSpPr txBox="1">
            <a:spLocks/>
          </p:cNvSpPr>
          <p:nvPr/>
        </p:nvSpPr>
        <p:spPr>
          <a:xfrm>
            <a:off x="1493076" y="301273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2B7B89A1-9444-8322-CADC-42D31D698FA8}"/>
              </a:ext>
            </a:extLst>
          </p:cNvPr>
          <p:cNvSpPr>
            <a:spLocks noGrp="1"/>
          </p:cNvSpPr>
          <p:nvPr>
            <p:ph type="body" sz="quarter" idx="12"/>
          </p:nvPr>
        </p:nvSpPr>
        <p:spPr>
          <a:xfrm>
            <a:off x="681513" y="1130890"/>
            <a:ext cx="4275138" cy="477520"/>
          </a:xfrm>
        </p:spPr>
        <p:txBody>
          <a:bodyPr>
            <a:noAutofit/>
          </a:bodyPr>
          <a:lstStyle/>
          <a:p>
            <a:pPr marL="0" indent="0">
              <a:buNone/>
            </a:pPr>
            <a:r>
              <a:rPr lang="en-US" dirty="0"/>
              <a:t>Relationships between environmental conditions and yield</a:t>
            </a:r>
            <a:endParaRPr lang="en-IN" dirty="0"/>
          </a:p>
        </p:txBody>
      </p:sp>
      <p:pic>
        <p:nvPicPr>
          <p:cNvPr id="3074" name="Picture 2" descr="C:\Users\91986\Downloads\downloa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3120" y="440575"/>
            <a:ext cx="5997008" cy="535339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79861" y="2228671"/>
            <a:ext cx="5065223" cy="1477328"/>
          </a:xfrm>
          <a:prstGeom prst="rect">
            <a:avLst/>
          </a:prstGeom>
        </p:spPr>
        <p:txBody>
          <a:bodyPr wrap="square">
            <a:spAutoFit/>
          </a:bodyPr>
          <a:lstStyle/>
          <a:p>
            <a:r>
              <a:rPr lang="en-US" dirty="0"/>
              <a:t>No single environmental factor strongly drives yield individually — all correlations are weak (under 0.05). This suggests yield outcomes depend on a combination of conditions rather than one dominant factor.</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smtClean="0"/>
              <a:t>RESULT </a:t>
            </a:r>
            <a:endParaRPr lang="en-IN" dirty="0"/>
          </a:p>
        </p:txBody>
      </p:sp>
      <p:sp>
        <p:nvSpPr>
          <p:cNvPr id="7" name="Text Placeholder 30">
            <a:extLst>
              <a:ext uri="{FF2B5EF4-FFF2-40B4-BE49-F238E27FC236}">
                <a16:creationId xmlns=""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 xmlns:a16="http://schemas.microsoft.com/office/drawing/2014/main" id="{F85C769B-425A-FE3B-E47A-3B747985DC52}"/>
              </a:ext>
            </a:extLst>
          </p:cNvPr>
          <p:cNvSpPr>
            <a:spLocks noGrp="1"/>
          </p:cNvSpPr>
          <p:nvPr>
            <p:ph type="body" sz="quarter" idx="12"/>
          </p:nvPr>
        </p:nvSpPr>
        <p:spPr>
          <a:xfrm>
            <a:off x="616542" y="1275371"/>
            <a:ext cx="4803927" cy="477520"/>
          </a:xfrm>
        </p:spPr>
        <p:txBody>
          <a:bodyPr>
            <a:normAutofit fontScale="92500"/>
          </a:bodyPr>
          <a:lstStyle/>
          <a:p>
            <a:pPr marL="0" indent="0">
              <a:buNone/>
            </a:pPr>
            <a:r>
              <a:rPr lang="en-US" dirty="0"/>
              <a:t>Identifying unusual/unexpected patterns</a:t>
            </a:r>
            <a:endParaRPr lang="en-IN" dirty="0"/>
          </a:p>
        </p:txBody>
      </p:sp>
      <p:pic>
        <p:nvPicPr>
          <p:cNvPr id="4098" name="Picture 2" descr="C:\Users\91986\Downloads\seasonal_agriculture_analysis-ipynb-Colab (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43" y="2124075"/>
            <a:ext cx="5743575" cy="1304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16542" y="3685047"/>
            <a:ext cx="6632155" cy="1200329"/>
          </a:xfrm>
          <a:prstGeom prst="rect">
            <a:avLst/>
          </a:prstGeom>
        </p:spPr>
        <p:txBody>
          <a:bodyPr wrap="square">
            <a:spAutoFit/>
          </a:bodyPr>
          <a:lstStyle/>
          <a:p>
            <a:r>
              <a:rPr lang="en-US" dirty="0"/>
              <a:t>209 farms had high yield (top 25%) but still recorded a loss, concentrated mostly in </a:t>
            </a:r>
            <a:r>
              <a:rPr lang="en-US" dirty="0" err="1"/>
              <a:t>Kharif</a:t>
            </a:r>
            <a:r>
              <a:rPr lang="en-US" dirty="0"/>
              <a:t> and Rabi. This shows that cost overruns — not poor farming — are the main driver of unprofitability in these cases.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7556" y="334799"/>
            <a:ext cx="2488276" cy="871438"/>
          </a:xfrm>
        </p:spPr>
        <p:txBody>
          <a:bodyPr>
            <a:normAutofit/>
          </a:bodyPr>
          <a:lstStyle/>
          <a:p>
            <a:r>
              <a:rPr lang="en-US" sz="4400" dirty="0" smtClean="0"/>
              <a:t>RESULT</a:t>
            </a:r>
            <a:endParaRPr lang="en-US" sz="4400" dirty="0"/>
          </a:p>
        </p:txBody>
      </p:sp>
      <p:pic>
        <p:nvPicPr>
          <p:cNvPr id="5122" name="Picture 2" descr="C:\Users\91986\Downloads\seasonal_agriculture_analysis-ipynb-Colab (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8221" y="1502234"/>
            <a:ext cx="5456470" cy="331914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37556" y="1632218"/>
            <a:ext cx="5073535" cy="4016484"/>
          </a:xfrm>
          <a:prstGeom prst="rect">
            <a:avLst/>
          </a:prstGeom>
        </p:spPr>
        <p:txBody>
          <a:bodyPr wrap="square">
            <a:spAutoFit/>
          </a:bodyPr>
          <a:lstStyle/>
          <a:p>
            <a:r>
              <a:rPr lang="en-US" sz="1700" dirty="0"/>
              <a:t>Drip irrigation consistently gives the highest water efficiency across all three seasons (6.8 in </a:t>
            </a:r>
            <a:r>
              <a:rPr lang="en-US" sz="1700" dirty="0" err="1"/>
              <a:t>Kharif</a:t>
            </a:r>
            <a:r>
              <a:rPr lang="en-US" sz="1700" dirty="0"/>
              <a:t>, 6.0 in Rabi, 5.3 in </a:t>
            </a:r>
            <a:r>
              <a:rPr lang="en-US" sz="1700" dirty="0" err="1"/>
              <a:t>Zaid</a:t>
            </a:r>
            <a:r>
              <a:rPr lang="en-US" sz="1700" dirty="0"/>
              <a:t> </a:t>
            </a:r>
            <a:r>
              <a:rPr lang="en-US" sz="1700" dirty="0" err="1"/>
              <a:t>tonnes</a:t>
            </a:r>
            <a:r>
              <a:rPr lang="en-US" sz="1700" dirty="0"/>
              <a:t> per 1000m³) while using less total water than Flood irrigation. Flood irrigation is the least efficient in every season despite using the most water (up to 8,229 m³ in </a:t>
            </a:r>
            <a:r>
              <a:rPr lang="en-US" sz="1700" dirty="0" err="1"/>
              <a:t>Kharif</a:t>
            </a:r>
            <a:r>
              <a:rPr lang="en-US" sz="1700" dirty="0"/>
              <a:t>) — meaning it wastes the most water relative to yield produced. </a:t>
            </a:r>
            <a:r>
              <a:rPr lang="en-US" sz="1700" dirty="0" err="1"/>
              <a:t>Rainfed</a:t>
            </a:r>
            <a:r>
              <a:rPr lang="en-US" sz="1700" dirty="0"/>
              <a:t> farming, interestingly, is highly efficient in </a:t>
            </a:r>
            <a:r>
              <a:rPr lang="en-US" sz="1700" dirty="0" err="1"/>
              <a:t>Kharif</a:t>
            </a:r>
            <a:r>
              <a:rPr lang="en-US" sz="1700" dirty="0"/>
              <a:t> (8.8) since the season's natural rainfall does the work for free, but becomes the worst performer in </a:t>
            </a:r>
            <a:r>
              <a:rPr lang="en-US" sz="1700" dirty="0" err="1"/>
              <a:t>Zaid</a:t>
            </a:r>
            <a:r>
              <a:rPr lang="en-US" sz="1700" dirty="0"/>
              <a:t> (5.5) when rainfall is scarce. This is a strong, actionable finding: switching from Flood to Drip irrigation, especially in </a:t>
            </a:r>
            <a:r>
              <a:rPr lang="en-US" sz="1700" dirty="0" err="1"/>
              <a:t>Zaid</a:t>
            </a:r>
            <a:r>
              <a:rPr lang="en-US" sz="1700" dirty="0"/>
              <a:t>, would meaningfully improve water efficiency.</a:t>
            </a:r>
          </a:p>
        </p:txBody>
      </p:sp>
      <p:sp>
        <p:nvSpPr>
          <p:cNvPr id="6" name="Rectangle 5"/>
          <p:cNvSpPr/>
          <p:nvPr/>
        </p:nvSpPr>
        <p:spPr>
          <a:xfrm>
            <a:off x="590202" y="1132901"/>
            <a:ext cx="3475631" cy="369332"/>
          </a:xfrm>
          <a:prstGeom prst="rect">
            <a:avLst/>
          </a:prstGeom>
        </p:spPr>
        <p:txBody>
          <a:bodyPr wrap="none">
            <a:spAutoFit/>
          </a:bodyPr>
          <a:lstStyle/>
          <a:p>
            <a:r>
              <a:rPr lang="en-US" dirty="0"/>
              <a:t>Irrigation Method Effectiveness </a:t>
            </a:r>
          </a:p>
        </p:txBody>
      </p:sp>
    </p:spTree>
    <p:extLst>
      <p:ext uri="{BB962C8B-B14F-4D97-AF65-F5344CB8AC3E}">
        <p14:creationId xmlns:p14="http://schemas.microsoft.com/office/powerpoint/2010/main" val="18960728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519460" y="1820487"/>
            <a:ext cx="4252045" cy="3990110"/>
          </a:xfrm>
        </p:spPr>
        <p:txBody>
          <a:bodyPr>
            <a:normAutofit fontScale="92500" lnSpcReduction="20000"/>
          </a:bodyPr>
          <a:lstStyle/>
          <a:p>
            <a:pPr marL="0" indent="0">
              <a:buNone/>
            </a:pPr>
            <a:r>
              <a:rPr lang="en-US" dirty="0"/>
              <a:t>The three seasons show clearly distinct climate profiles. </a:t>
            </a:r>
            <a:r>
              <a:rPr lang="en-US" dirty="0" err="1"/>
              <a:t>Kharif</a:t>
            </a:r>
            <a:r>
              <a:rPr lang="en-US" dirty="0"/>
              <a:t> is the wettest and most humid season, averaging 852mm rainfall — nearly double Rabi (436mm) and almost triple </a:t>
            </a:r>
            <a:r>
              <a:rPr lang="en-US" dirty="0" err="1"/>
              <a:t>Zaid</a:t>
            </a:r>
            <a:r>
              <a:rPr lang="en-US" dirty="0"/>
              <a:t> (299mm). </a:t>
            </a:r>
            <a:r>
              <a:rPr lang="en-US" dirty="0" err="1"/>
              <a:t>Zaid</a:t>
            </a:r>
            <a:r>
              <a:rPr lang="en-US" dirty="0"/>
              <a:t> is the hottest (31°C </a:t>
            </a:r>
            <a:r>
              <a:rPr lang="en-US" dirty="0" err="1"/>
              <a:t>avg</a:t>
            </a:r>
            <a:r>
              <a:rPr lang="en-US" dirty="0"/>
              <a:t>) and driest, with the highest sunlight hours (8.2 </a:t>
            </a:r>
            <a:r>
              <a:rPr lang="en-US" dirty="0" err="1"/>
              <a:t>hrs</a:t>
            </a:r>
            <a:r>
              <a:rPr lang="en-US" dirty="0"/>
              <a:t>/day) but the lowest soil moisture (19%). Rabi sits in between on most metrics — cooler (23.5°C) with moderate rainfall. This explains </a:t>
            </a:r>
            <a:r>
              <a:rPr lang="en-US" i="1" dirty="0"/>
              <a:t>why</a:t>
            </a:r>
            <a:r>
              <a:rPr lang="en-US" dirty="0"/>
              <a:t> yield and profit consistently decline from </a:t>
            </a:r>
            <a:r>
              <a:rPr lang="en-US" dirty="0" err="1"/>
              <a:t>Kharif</a:t>
            </a:r>
            <a:r>
              <a:rPr lang="en-US" dirty="0"/>
              <a:t> → Rabi → </a:t>
            </a:r>
            <a:r>
              <a:rPr lang="en-US" dirty="0" err="1"/>
              <a:t>Zaid</a:t>
            </a:r>
            <a:r>
              <a:rPr lang="en-US" dirty="0"/>
              <a:t>: crops in </a:t>
            </a:r>
            <a:r>
              <a:rPr lang="en-US" dirty="0" err="1"/>
              <a:t>Zaid</a:t>
            </a:r>
            <a:r>
              <a:rPr lang="en-US" dirty="0"/>
              <a:t> face heat stress and low soil moisture despite plenty of sunlight.</a:t>
            </a:r>
          </a:p>
        </p:txBody>
      </p:sp>
      <p:sp>
        <p:nvSpPr>
          <p:cNvPr id="4" name="Title 3"/>
          <p:cNvSpPr>
            <a:spLocks noGrp="1"/>
          </p:cNvSpPr>
          <p:nvPr>
            <p:ph type="title"/>
          </p:nvPr>
        </p:nvSpPr>
        <p:spPr>
          <a:xfrm>
            <a:off x="435956" y="530895"/>
            <a:ext cx="1891607" cy="757580"/>
          </a:xfrm>
        </p:spPr>
        <p:txBody>
          <a:bodyPr>
            <a:normAutofit fontScale="90000"/>
          </a:bodyPr>
          <a:lstStyle/>
          <a:p>
            <a:r>
              <a:rPr lang="en-US" sz="4000" dirty="0" smtClean="0"/>
              <a:t>RESULT</a:t>
            </a:r>
            <a:endParaRPr lang="en-US" sz="4000" dirty="0"/>
          </a:p>
        </p:txBody>
      </p:sp>
      <p:sp>
        <p:nvSpPr>
          <p:cNvPr id="5" name="Rectangle 4"/>
          <p:cNvSpPr/>
          <p:nvPr/>
        </p:nvSpPr>
        <p:spPr>
          <a:xfrm>
            <a:off x="519460" y="1191675"/>
            <a:ext cx="4400628" cy="369332"/>
          </a:xfrm>
          <a:prstGeom prst="rect">
            <a:avLst/>
          </a:prstGeom>
        </p:spPr>
        <p:txBody>
          <a:bodyPr wrap="none">
            <a:spAutoFit/>
          </a:bodyPr>
          <a:lstStyle/>
          <a:p>
            <a:r>
              <a:rPr lang="en-US" dirty="0"/>
              <a:t>Environmental Conditions Across Seasons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4254" y="1376341"/>
            <a:ext cx="6486567" cy="4793488"/>
          </a:xfrm>
          <a:prstGeom prst="rect">
            <a:avLst/>
          </a:prstGeom>
        </p:spPr>
      </p:pic>
    </p:spTree>
    <p:extLst>
      <p:ext uri="{BB962C8B-B14F-4D97-AF65-F5344CB8AC3E}">
        <p14:creationId xmlns:p14="http://schemas.microsoft.com/office/powerpoint/2010/main" val="193915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675957" y="1275371"/>
            <a:ext cx="5829992" cy="1477328"/>
          </a:xfrm>
          <a:prstGeom prst="rect">
            <a:avLst/>
          </a:prstGeom>
        </p:spPr>
        <p:txBody>
          <a:bodyPr wrap="square">
            <a:spAutoFit/>
          </a:bodyPr>
          <a:lstStyle/>
          <a:p>
            <a:r>
              <a:rPr lang="en-US" dirty="0"/>
              <a:t>Future work could include predictive modeling (e.g. yield or profit prediction using regression), integrating real-time weather data, expanding to more regions, and building a dashboard for farmers to get season-specific recommendations.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p:nvPr/>
        </p:nvSpPr>
        <p:spPr>
          <a:xfrm>
            <a:off x="845128" y="1443289"/>
            <a:ext cx="5672050" cy="646331"/>
          </a:xfrm>
          <a:prstGeom prst="rect">
            <a:avLst/>
          </a:prstGeom>
        </p:spPr>
        <p:txBody>
          <a:bodyPr wrap="square">
            <a:spAutoFit/>
          </a:bodyPr>
          <a:lstStyle/>
          <a:p>
            <a:r>
              <a:rPr lang="en-US" dirty="0"/>
              <a:t>https://github.com/DiprajitMajumder/Seasonal_Agricultural_Performance_-Analysis.git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170" name="Picture 2" descr="C:\Users\91986\OneDrive\Pictures\Screenshots\Screenshot 2026-09-04 145333.png"/>
          <p:cNvPicPr>
            <a:picLocks noChangeAspect="1" noChangeArrowheads="1"/>
          </p:cNvPicPr>
          <p:nvPr/>
        </p:nvPicPr>
        <p:blipFill rotWithShape="1">
          <a:blip r:embed="rId3">
            <a:extLst>
              <a:ext uri="{28A0092B-C50C-407E-A947-70E740481C1C}">
                <a14:useLocalDpi xmlns:a14="http://schemas.microsoft.com/office/drawing/2010/main" val="0"/>
              </a:ext>
            </a:extLst>
          </a:blip>
          <a:srcRect t="1171"/>
          <a:stretch/>
        </p:blipFill>
        <p:spPr bwMode="auto">
          <a:xfrm>
            <a:off x="800056" y="1504604"/>
            <a:ext cx="6889199" cy="4825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16c05727-aa75-4e4a-9b5f-8a80a1165891"/>
    <ds:schemaRef ds:uri="71af3243-3dd4-4a8d-8c0d-dd76da1f02a5"/>
    <ds:schemaRef ds:uri="http://www.w3.org/XML/1998/namespace"/>
    <ds:schemaRef ds:uri="http://purl.org/dc/dcmitype/"/>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1520</TotalTime>
  <Words>851</Words>
  <Application>Microsoft Office PowerPoint</Application>
  <PresentationFormat>Custom</PresentationFormat>
  <Paragraphs>44</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Facet</vt:lpstr>
      <vt:lpstr>Project Title –Seasonal Agriculture Performance Analysis</vt:lpstr>
      <vt:lpstr>PROBLEM  STATEMENT</vt:lpstr>
      <vt:lpstr>Project Description  </vt:lpstr>
      <vt:lpstr>WHO ARE THE END USERS?</vt:lpstr>
      <vt:lpstr>Technology Used</vt:lpstr>
      <vt:lpstr>RESULT </vt:lpstr>
      <vt:lpstr>RESULT</vt:lpstr>
      <vt:lpstr>RESULT </vt:lpstr>
      <vt:lpstr>RESULT</vt:lpstr>
      <vt:lpstr>RESULT </vt:lpstr>
      <vt:lpstr>RESULT</vt:lpstr>
      <vt:lpstr>RESULT</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diprajit majumder</cp:lastModifiedBy>
  <cp:revision>108</cp:revision>
  <dcterms:created xsi:type="dcterms:W3CDTF">2021-07-11T13:13:15Z</dcterms:created>
  <dcterms:modified xsi:type="dcterms:W3CDTF">2026-09-04T09:53:06Z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